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37"/>
                </a:solidFill>
                <a:latin typeface="+mn-lt"/>
              </a:rPr>
              <a:t>Weighted mean annual earnings by age band (Rs thousand)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mean (Rs thousand)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480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15–19</c:v>
                  </c:pt>
                  <c:pt idx="1">
                    <c:v>20–24</c:v>
                  </c:pt>
                  <c:pt idx="2">
                    <c:v>25–29</c:v>
                  </c:pt>
                  <c:pt idx="3">
                    <c:v>30–34</c:v>
                  </c:pt>
                  <c:pt idx="4">
                    <c:v>35–39</c:v>
                  </c:pt>
                  <c:pt idx="5">
                    <c:v>40–44</c:v>
                  </c:pt>
                  <c:pt idx="6">
                    <c:v>45–49</c:v>
                  </c:pt>
                  <c:pt idx="7">
                    <c:v>50–54</c:v>
                  </c:pt>
                  <c:pt idx="8">
                    <c:v>55–59</c:v>
                  </c:pt>
                  <c:pt idx="9">
                    <c:v>60–64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193</c:v>
                </c:pt>
                <c:pt idx="1">
                  <c:v>223</c:v>
                </c:pt>
                <c:pt idx="2">
                  <c:v>303</c:v>
                </c:pt>
                <c:pt idx="3">
                  <c:v>379</c:v>
                </c:pt>
                <c:pt idx="4">
                  <c:v>360</c:v>
                </c:pt>
                <c:pt idx="5">
                  <c:v>447</c:v>
                </c:pt>
                <c:pt idx="6">
                  <c:v>432</c:v>
                </c:pt>
                <c:pt idx="7">
                  <c:v>531</c:v>
                </c:pt>
                <c:pt idx="8">
                  <c:v>542</c:v>
                </c:pt>
                <c:pt idx="9">
                  <c:v>414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(about 1 min). Introduce yourself and variant. Variant: last two digits 35, 35 = 4x8+3, so variant 3 = Sindh urban. Sample: persons 15-64 with earn_annual &gt; 0, hhweight-weighted. Three headline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(about 1 min). Weighted histogram, bins 0.1 wide in log10 units, density per log10 unit. Median Rs 264,000, P90 Rs 696,000. Weighted and unweighted medians differ because the subset over-samples small districts, so hhweight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MAKEOVER (about 1.5 min). Left: R default, ggplot(data, aes(x,y)) + geom_point(), nothing else, committed first as figures/default.svg. Right: my redesign from Question 3. Change 1, log scale: earnings are skewed and multiplicative, so equal distances should mean equal ratios; the linear default crushes 90% of earners into the bottom strip. Change 2, jitter within 0.4 years and about 22% opacity: ages are whole numbers and pay is reported in round figures, so points stack on top of each other; transparency makes density visible as darkness. Be ready to justify 22%: low enough that overlaps show, high enough that single points stay visible. Change 3, weighted band means joined by a line plus a direct annotation of the peak: conditional means answer the question, the cloud does not. Chapters: perceptual ranking of channels (position over area/colour), data-ink, log scale, overplotting, conditional means. One thing the default shows that the redesign hides: the extreme tail. Largest earner is Rs 7.2 million, 22 earners are above Rs 2 million; on the log axis they look like a small step above the cloud. Both images come from the R scripts in the repository (figures/default.svg and figures/relationship.svg).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(about 1.5 min). Most important finding: the cross-sectional age profile rises from Rs 192,523 (15-19) to Rs 542,400 (55-59), a 2.8x gap, then falls in 60-64. No band is thin (smallest n = 72). Caveat: cross-section, so cohort effects and selection into work at older ages mean it is not the return to experience for one worker. Second language: I recomputed the band table in Python; 25-29 mean Rs 303,154 and 45-49 mean Rs 431,697. State your R values next to these; they must agree to the rupee. Default that differed between R and Python: weighted quantile definition (R quantile() and numpy use interpolation; I used smallest x where cumulative weight share reaches p), and also jitter/age-band edges (right-open bands [15,20)). Close: ask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D8D3"/>
                </a:solidFill>
              </a:rPr>
              <a:t>ECO346 · Assignment 1 · Fall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earns what in urban Sindh?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9E6"/>
                </a:solidFill>
              </a:rPr>
              <a:t>PSLM 2019–20 · persons aged 15–64 with positive annual earnings · weighted by hhweight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FA24-BEDS-035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   ·   Variant 3 = Sindh, urban  (35 = 4 × 8 + 3)</a:t>
            </a:r>
            <a:endParaRPr lang="en-US" sz="1400" dirty="0"/>
          </a:p>
        </p:txBody>
      </p:sp>
      <p:sp>
        <p:nvSpPr>
          <p:cNvPr id="6" name="Stat card 1"/>
          <p:cNvSpPr/>
          <p:nvPr/>
        </p:nvSpPr>
        <p:spPr>
          <a:xfrm>
            <a:off x="457200" y="2834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2,644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2"/>
                </a:solidFill>
              </a:rPr>
              <a:t>earners in the sample</a:t>
            </a:r>
            <a:endParaRPr lang="en-US" sz="1300" dirty="0"/>
          </a:p>
        </p:txBody>
      </p:sp>
      <p:sp>
        <p:nvSpPr>
          <p:cNvPr id="9" name="Stat card 2"/>
          <p:cNvSpPr/>
          <p:nvPr/>
        </p:nvSpPr>
        <p:spPr>
          <a:xfrm>
            <a:off x="3246120" y="2834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264,000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2"/>
                </a:solidFill>
              </a:rPr>
              <a:t>weighted median annual earnings</a:t>
            </a:r>
            <a:endParaRPr lang="en-US" sz="1300" dirty="0"/>
          </a:p>
        </p:txBody>
      </p:sp>
      <p:sp>
        <p:nvSpPr>
          <p:cNvPr id="12" name="Stat card 3"/>
          <p:cNvSpPr/>
          <p:nvPr/>
        </p:nvSpPr>
        <p:spPr>
          <a:xfrm>
            <a:off x="6035040" y="28346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5.80×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611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4F2"/>
                </a:solidFill>
              </a:rPr>
              <a:t>P90 / P10 (Rs 696,000 ÷ Rs 120,000)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Sindh earnings cluster near Rs 264,000, with a long right tail</a:t>
            </a:r>
            <a:endParaRPr lang="en-US" sz="2600" dirty="0"/>
          </a:p>
        </p:txBody>
      </p:sp>
      <p:pic>
        <p:nvPicPr>
          <p:cNvPr id="3" name="Image 0" descr="Weighted histogram of annual earnings on a log10 scale with median and 90th percentile mar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00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34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Source: PSLM 2019–20. Sample: earners aged 15–64. Weighted by hhweight; 2 earners below Rs 10,000 excluded.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28346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43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Unweighted median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P10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P90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/ P10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5216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Weighting raises the median by Rs 12,000, because households carry different survey weights. The unweighted figure would misstate the population.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from an unreadable cloud to a clear age profile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BEFORE · R default geom_point()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15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AFTER · redesign</a:t>
            </a:r>
            <a:endParaRPr lang="en-US" sz="1200" dirty="0"/>
          </a:p>
        </p:txBody>
      </p:sp>
      <p:pic>
        <p:nvPicPr>
          <p:cNvPr id="5" name="Image 0" descr="Default scatterplot of earnings against 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3931920" cy="2459736"/>
          </a:xfrm>
          <a:prstGeom prst="rect">
            <a:avLst/>
          </a:prstGeom>
        </p:spPr>
      </p:pic>
      <p:pic>
        <p:nvPicPr>
          <p:cNvPr id="6" name="Image 1" descr="Redesigned log-scale scatterplot with band means and peak anno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63040"/>
            <a:ext cx="3931920" cy="24597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0050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1  Log scale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– equal ratios, not rupee gaps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2  Jitter ± 0.4 yr + 22% opacity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– fixes overplotting of repeated ages and pay figures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3  Band means + annotated peak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 – conditional means, not 2,644 dots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9480F"/>
                </a:solidFill>
              </a:rPr>
              <a:t>Hidden by the redesign: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the extreme tail – a few earners at Rs 5–7.2 million, 27× the median, stand out only on the linear axis.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Earnings climb with age and peak at Rs 542,400 for ages 55⁠–⁠59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8872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88720"/>
          <a:ext cx="3108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371600"/>
              </a:tblGrid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192,523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222,948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303,154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379,254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360,221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446,533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45–49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431,697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530,773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94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94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948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414,262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55–59 earns 2.8× the 15–19 band; 60–64 falls to Rs 414,262 (n = 72). No band is thin (all n ≥ 30).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D9480F"/>
                </a:solidFill>
              </a:rPr>
              <a:t>Cannot tell us: 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whether one worker’s pay rises with age – this compares different people in one year (cohorts, selection into work).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Second-language check (Python): 25–29 mean Rs 303,154 · 45–49 mean Rs 431,697.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ndh Earnings">
  <a:themeElements>
    <a:clrScheme name="Sindh Earnings">
      <a:dk1>
        <a:srgbClr val="1F2A37"/>
      </a:dk1>
      <a:lt1>
        <a:srgbClr val="FFFFFF"/>
      </a:lt1>
      <a:dk2>
        <a:srgbClr val="0B3B38"/>
      </a:dk2>
      <a:lt2>
        <a:srgbClr val="F1F5F4"/>
      </a:lt2>
      <a:accent1>
        <a:srgbClr val="0F766E"/>
      </a:accent1>
      <a:accent2>
        <a:srgbClr val="D9480F"/>
      </a:accent2>
      <a:accent3>
        <a:srgbClr val="6B7280"/>
      </a:accent3>
      <a:accent4>
        <a:srgbClr val="14B8A6"/>
      </a:accent4>
      <a:accent5>
        <a:srgbClr val="F59E0B"/>
      </a:accent5>
      <a:accent6>
        <a:srgbClr val="374151"/>
      </a:accent6>
      <a:hlink>
        <a:srgbClr val="0F766E"/>
      </a:hlink>
      <a:folHlink>
        <a:srgbClr val="6B7280"/>
      </a:folHlink>
    </a:clrScheme>
    <a:fontScheme name="Sindh Earning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Assignment 1 - FA24-BEDS-035</dc:title>
  <dc:subject>PptxGenJS Presentation</dc:subject>
  <dc:creator>PptxGenJS</dc:creator>
  <cp:lastModifiedBy>PptxGenJS</cp:lastModifiedBy>
  <cp:revision>1</cp:revision>
  <dcterms:created xsi:type="dcterms:W3CDTF">2026-10-28T08:47:01Z</dcterms:created>
  <dcterms:modified xsi:type="dcterms:W3CDTF">2026-10-28T08:47:01Z</dcterms:modified>
</cp:coreProperties>
</file>